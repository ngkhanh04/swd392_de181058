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FPT UNIVERSITY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DESIGN (SWD392)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CH15 – Client/Server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2560320" y="2880360"/>
            <a:ext cx="4023360" cy="59436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28803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⏱  LAB ASSIGNMENT  –  45 PHÚT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4A3B8"/>
                </a:solidFill>
              </a:rPr>
              <a:t>Thiết kế kiến trúc Client/Server cho hệ thống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94A3B8"/>
                </a:solidFill>
              </a:rPr>
              <a:t>Thư viện Trường Đại học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4480560"/>
            <a:ext cx="2011680" cy="8686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4805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Task 1
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Kiến trúc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&amp; Diagram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0" y="4480560"/>
            <a:ext cx="2011680" cy="86868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44805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Task 2
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DB Schema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Design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0" y="4480560"/>
            <a:ext cx="2011680" cy="86868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4805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Task 3
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Communication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Pattern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Bối Cảnh Bài Toán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498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141732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86968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</a:rPr>
              <a:t>Trường Đại học FPT cần xây dựng Hệ thống Quản lý Thư viện (Library Management System). Hệ thống phục vụ 3 loại người dùng: Sinh viên, Giảng viên và Thủ thư. Sinh viên và Giảng viên truy cập từ máy tính/điện thoại cá nhân. Thủ thư quản lý toàn bộ sách, mượn trả và tài khoản người dùng.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ACTORS trong hệ thống: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724912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724912"/>
            <a:ext cx="265176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7249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🎓  Sinh Viên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324612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</a:rPr>
              <a:t>Tìm kiếm sách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</a:rPr>
              <a:t>Mượn / Trả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</a:rPr>
              <a:t>Xem lịch sử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46120" y="2724912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2724912"/>
            <a:ext cx="2651760" cy="45720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27249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👨‍🏫  Giảng Viên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324612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</a:rPr>
              <a:t>Tìm kiếm sách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</a:rPr>
              <a:t>Mượn / Trả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</a:rPr>
              <a:t>Xem đề xuất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2724912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2724912"/>
            <a:ext cx="265176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7249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📖  Thủ Thư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324612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</a:rPr>
              <a:t>Quản lý sách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</a:rPr>
              <a:t>Duyệt mượn trả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</a:rPr>
              <a:t>Quản lý tài khoản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–  Thiết Kế Kiến Trúc  (15 phút)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1a.  Chọn kiến trúc phù hợp &amp; vẽ sơ đồ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8595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2588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Hãy chọn MỘT trong 3 kiến trúc sau và giải thích lý do:
</a:t>
            </a:r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</a:rPr>
              <a:t>  • Multiple Client / Single Service
</a:t>
            </a:r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</a:rPr>
              <a:t>  • Multiple Client / Multiple Service
</a:t>
            </a:r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</a:rPr>
              <a:t>  • Multi-tier Client/Service
</a:t>
            </a:r>
            <a:pPr indent="0" marL="0">
              <a:buNone/>
            </a:pPr>
            <a:r>
              <a:rPr lang="en-US" sz="1300" i="1" dirty="0">
                <a:solidFill>
                  <a:srgbClr val="0D7377"/>
                </a:solidFill>
              </a:rPr>
              <a:t>→ Vẽ sơ đồ kiến trúc thể hiện Client, Service(s), và kết nối giữa chúng.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880360"/>
            <a:ext cx="859536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880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1b.  Xác định Services cần có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3319272"/>
            <a:ext cx="8595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</a:rPr>
              <a:t>Gợi ý Services – hãy điền responsibility cho mỗi service vào bảng: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118872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7490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BookService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572768" y="3767328"/>
            <a:ext cx="301752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376732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Quản lý thông tin sách, tìm kiếm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251960"/>
            <a:ext cx="1188720" cy="38404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2519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LoanService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572768" y="4270248"/>
            <a:ext cx="301752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427024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Xử lý mượn/trả sách, tính phí phạt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749040"/>
            <a:ext cx="1188720" cy="38404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7490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UserService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61888" y="3767328"/>
            <a:ext cx="301752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376732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Quản lý tài khoản, xác thực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4251960"/>
            <a:ext cx="1188720" cy="38404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42519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NotificationService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61888" y="4270248"/>
            <a:ext cx="301752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427024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Gửi thông báo nhắc hạn trả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–  Relational Database Design  (20 phút)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Cho Static Model (Class Diagram) sau – hãy chuyển sang Relational Database Schema: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256032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25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Member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09928"/>
            <a:ext cx="25603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0992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memberId: String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(PK)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09397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name: String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47802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email: String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86207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type: String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(student/lecturer)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7560" y="1325880"/>
            <a:ext cx="2560320" cy="38404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325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Book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37560" y="1709928"/>
            <a:ext cx="2560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70992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isbn: String (PK)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29000" y="209397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title: String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9000" y="247802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author: String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29000" y="286207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totalCopies: int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29000" y="32461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availableCopies: int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0" y="1325880"/>
            <a:ext cx="2560320" cy="38404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1325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LoanRecord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1709928"/>
            <a:ext cx="2560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70992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loanId: String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(PK)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0" y="209397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loanDate: Date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92240" y="247802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dueDate: Date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0" y="286207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returnDate: Date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92240" y="32461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status: String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88920" y="248716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D3C98"/>
                </a:solidFill>
              </a:rPr>
              <a:t>borrows ►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60720" y="248716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D3C98"/>
                </a:solidFill>
              </a:rPr>
              <a:t>◄ for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94560" y="2194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1..*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0" y="2194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0..*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657600"/>
            <a:ext cx="256032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657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①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" y="366674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</a:rPr>
              <a:t>2a. Ánh xạ entity classes → Tables. Liệt kê tên bảng và các cột.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74320" y="3986784"/>
            <a:ext cx="256032" cy="25603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986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②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" y="39959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</a:rPr>
              <a:t>2b. Xác định Primary Key cho mỗi bảng. Gạch chân PK.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74320" y="4315968"/>
            <a:ext cx="256032" cy="25603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315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③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94360" y="432511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</a:rPr>
              <a:t>2c. Thiết kế quan hệ Member borrows LoanRecord (1-to-many). Đặt FK ở đâu?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74320" y="4645152"/>
            <a:ext cx="256032" cy="25603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645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④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94360" y="465429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</a:rPr>
              <a:t>2d. Thiết kế quan hệ LoanRecord for Book (many-to-many nếu cần). Có cần bảng trung gian không?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18096"/>
                </a:solidFill>
              </a:rPr>
              <a:t>📝 Ghi chú: underline = Primary Key,  italic = Foreign Key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 –  Communication Pattern &amp; Wrapper  (10 phút)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38404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3a.  Synchronous vs Asynchronous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595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52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</a:rPr>
              <a:t>Với mỗi tình huống sau, chọn Synchronous hoặc Asynchronous và giải thích lý do: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256032" cy="25603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00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60934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</a:rPr>
              <a:t>Sinh viên tìm kiếm sách theo tên   [Cần kết quả ngay → ?]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9384"/>
            <a:ext cx="256032" cy="25603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29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193852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</a:rPr>
              <a:t>Hệ thống gửi email nhắc nhở sắp hết hạn trả sách   [Không cần đợi → ?]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258568"/>
            <a:ext cx="256032" cy="25603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58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226771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</a:rPr>
              <a:t>Thủ thư duyệt yêu cầu mượn sách   [Cần confirm ngay → ?]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8595360" cy="38404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517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3b.  Thiết kế Database Wrapper Class cho Book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8595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127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</a:rPr>
              <a:t>Hãy thiết kế class BookWrapper với các methods ẩn hoàn toàn SQL: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493008"/>
            <a:ext cx="4114800" cy="1298448"/>
          </a:xfrm>
          <a:prstGeom prst="rect">
            <a:avLst/>
          </a:prstGeom>
          <a:solidFill>
            <a:srgbClr val="0D1117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3872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BookWrapper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findByTitle(title) { /* TODO */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findByIsbn(isbn)   { /* TODO */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save(book)         { /* TODO */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updateCopies(isbn, qty) { /* TODO */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3493008"/>
            <a:ext cx="411480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7920"/>
                </a:solidFill>
              </a:rPr>
              <a:t>Câu hỏi:
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</a:rPr>
              <a:t>• Viết SQL query bên trong findByTitle()
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</a:rPr>
              <a:t>• Tại sao nên ẩn SQL trong Wrapper thay vì viết thẳng trong Service?
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</a:rPr>
              <a:t>• findByTitle() nên trả về kiểu dữ liệu gì?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Rubric Chấm Điểm &amp; Gợi 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TIMELINE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1005840" cy="4572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 – 5'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98448" y="1271016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27101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</a:rPr>
              <a:t>Đọc đề, phân tích yêu cầu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100584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28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 – 20'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98448" y="1865376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186537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</a:rPr>
              <a:t>Task 1: Chọn kiến trúc &amp; vẽ diagram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423160"/>
            <a:ext cx="1005840" cy="45720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4231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 – 40'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98448" y="2459736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45973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</a:rPr>
              <a:t>Task 2: Thiết kế DB Schema (PK, FK, bảng)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100584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0175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40 – 45'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298448" y="3054096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05409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</a:rPr>
              <a:t>Task 3: Communication + Wrapper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4206240" cy="36576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777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RUBRIC – 10 ĐIỂM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234440"/>
            <a:ext cx="50292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2344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2đ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184648" y="1261872"/>
            <a:ext cx="3611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126187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Chọn đúng kiến trúc + lý do hợp lý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1709928"/>
            <a:ext cx="50292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7099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1đ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184648" y="1737360"/>
            <a:ext cx="3611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173736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Vẽ sơ đồ kiến trúc đúng và đủ thành phần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185416"/>
            <a:ext cx="502920" cy="38404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18541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1đ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184648" y="2212848"/>
            <a:ext cx="3611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0" y="221284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Ánh xạ Entity → Table đúng (tên cột, kiểu dữ liệu)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2660904"/>
            <a:ext cx="502920" cy="38404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66090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1đ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184648" y="2688336"/>
            <a:ext cx="3611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57800" y="268833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Xác định đúng Primary Key cho mỗi bảng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3136392"/>
            <a:ext cx="502920" cy="38404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1363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2đ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184648" y="3163824"/>
            <a:ext cx="3611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57800" y="316382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Thiết kế đúng quan hệ 1-many &amp; FK placement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63440" y="3611880"/>
            <a:ext cx="502920" cy="38404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36118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1đ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184648" y="3639312"/>
            <a:ext cx="3611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57800" y="36393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Chọn đúng Sync/Async cho 3 tình huống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63440" y="4087368"/>
            <a:ext cx="502920" cy="38404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40873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2đ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184648" y="4114800"/>
            <a:ext cx="3611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7800" y="411480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Wrapper: SQL đúng + giải thích lý do ẩn SQL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FFF3CD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4572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</a:rPr>
              <a:t>💡 Tip: </a:t>
            </a:r>
            <a:pPr indent="0" marL="0">
              <a:buNone/>
            </a:pPr>
            <a:r>
              <a:rPr lang="en-US" sz="1200" dirty="0">
                <a:solidFill>
                  <a:srgbClr val="7D6608"/>
                </a:solidFill>
              </a:rPr>
              <a:t>Dùng ví dụ ATM/Banking trong bài giảng để đối chiếu với Library System — cùng pattern, khác domain!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CH15 Assignment - Client Server Design</dc:title>
  <dc:subject>PptxGenJS Presentation</dc:subject>
  <dc:creator>PptxGenJS</dc:creator>
  <cp:lastModifiedBy>PptxGenJS</cp:lastModifiedBy>
  <cp:revision>1</cp:revision>
  <dcterms:created xsi:type="dcterms:W3CDTF">2026-02-22T04:49:14Z</dcterms:created>
  <dcterms:modified xsi:type="dcterms:W3CDTF">2026-02-22T04:49:14Z</dcterms:modified>
</cp:coreProperties>
</file>